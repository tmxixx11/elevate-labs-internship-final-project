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640080"/>
            <a:ext cx="2011680" cy="2011680"/>
          </a:xfrm>
          <a:prstGeom prst="ellipse">
            <a:avLst/>
          </a:prstGeom>
          <a:solidFill>
            <a:srgbClr val="30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1828800"/>
            <a:ext cx="1188720" cy="1188720"/>
          </a:xfrm>
          <a:prstGeom prst="ellipse">
            <a:avLst/>
          </a:prstGeom>
          <a:solidFill>
            <a:srgbClr val="16A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2926080"/>
            <a:ext cx="1645920" cy="1645920"/>
          </a:xfrm>
          <a:prstGeom prst="ellipse">
            <a:avLst/>
          </a:prstGeom>
          <a:solidFill>
            <a:srgbClr val="1F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3931920"/>
            <a:ext cx="914400" cy="914400"/>
          </a:xfrm>
          <a:prstGeom prst="ellipse">
            <a:avLst/>
          </a:prstGeom>
          <a:solidFill>
            <a:srgbClr val="6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7589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CUSTOMER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6ED2DC"/>
                </a:solidFill>
                <a:latin typeface="Aptos"/>
              </a:defRPr>
            </a:pPr>
            <a:r>
              <a:t>Analysis &amp; Retention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61488"/>
            <a:ext cx="7772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Telecom Industry • Python • SQL •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C0CDE1"/>
                </a:solidFill>
                <a:latin typeface="Aptos"/>
              </a:defRPr>
            </a:pPr>
            <a:r>
              <a:t>Project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59552"/>
            <a:ext cx="7772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C0CDE1"/>
                </a:solidFill>
                <a:latin typeface="Aptos"/>
              </a:defRPr>
            </a:pPr>
            <a:r>
              <a:t>Prepared using a synthetic demonstration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5989320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Objective: identify churn patterns and translate them into practical retention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82296" cy="1234440"/>
          </a:xfrm>
          <a:prstGeom prst="rect">
            <a:avLst/>
          </a:prstGeom>
          <a:solidFill>
            <a:srgbClr val="30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73351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93391"/>
            <a:ext cx="2240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1,200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95728"/>
            <a:ext cx="2240279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5D6C80"/>
                </a:solidFill>
                <a:latin typeface="Aptos"/>
              </a:defRPr>
            </a:pPr>
            <a:r>
              <a:t>Synthetic 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08760"/>
            <a:ext cx="82296" cy="1234440"/>
          </a:xfrm>
          <a:prstGeom prst="rect">
            <a:avLst/>
          </a:prstGeom>
          <a:solidFill>
            <a:srgbClr val="D2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673351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OBSERVED CHURN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993391"/>
            <a:ext cx="2240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30.8%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395728"/>
            <a:ext cx="2240279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5D6C80"/>
                </a:solidFill>
                <a:latin typeface="Aptos"/>
              </a:defRPr>
            </a:pPr>
            <a:r>
              <a:t>Generated labels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82296" cy="1234440"/>
          </a:xfrm>
          <a:prstGeom prst="rect">
            <a:avLst/>
          </a:prstGeom>
          <a:solidFill>
            <a:srgbClr val="16A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73351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AVG. MONTHLY CHARGE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93391"/>
            <a:ext cx="2240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$71.69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395728"/>
            <a:ext cx="2240279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5D6C80"/>
                </a:solidFill>
                <a:latin typeface="Aptos"/>
              </a:defRPr>
            </a:pPr>
            <a:r>
              <a:t>Sample currency units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50876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508760"/>
            <a:ext cx="82296" cy="1234440"/>
          </a:xfrm>
          <a:prstGeom prst="rect">
            <a:avLst/>
          </a:prstGeom>
          <a:solidFill>
            <a:srgbClr val="F0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1673351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TENURE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1993391"/>
            <a:ext cx="2240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0–72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395728"/>
            <a:ext cx="2240279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5D6C80"/>
                </a:solidFill>
                <a:latin typeface="Aptos"/>
              </a:defRPr>
            </a:pPr>
            <a:r>
              <a:t>Customer tenure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4612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11880"/>
            <a:ext cx="1069848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Explore customer and contract patterns associated with churn.</a:t>
            </a:r>
          </a:p>
          <a:p>
            <a:pPr>
              <a:spcAft>
                <a:spcPts val="10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Train and evaluate a binary classification model.</a:t>
            </a:r>
          </a:p>
          <a:p>
            <a:pPr>
              <a:spcAft>
                <a:spcPts val="10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Create practical customer segments and retention recommendations.</a:t>
            </a:r>
          </a:p>
          <a:p>
            <a:pPr>
              <a:spcAft>
                <a:spcPts val="10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Demonstrate SQL aggregation and an interactive dashboard.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Business problem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Telecom churn can reduce recurring revenue and increase replacement acquisition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659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17627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6A3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6060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11F3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999232"/>
            <a:ext cx="166420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243043"/>
                </a:solidFill>
                <a:latin typeface="Aptos"/>
              </a:defRPr>
            </a:pPr>
            <a:r>
              <a:t>Load customer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263347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306F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9659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7" y="217627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6A3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7" y="26060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11F3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7" y="2999232"/>
            <a:ext cx="166420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243043"/>
                </a:solidFill>
                <a:latin typeface="Aptos"/>
              </a:defRPr>
            </a:pPr>
            <a:r>
              <a:t>Clean and summarize with Python/SQL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7" y="263347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306F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19659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217627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6A3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6060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11F3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999232"/>
            <a:ext cx="166420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243043"/>
                </a:solidFill>
                <a:latin typeface="Aptos"/>
              </a:defRPr>
            </a:pPr>
            <a:r>
              <a:t>Train a churn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263347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306F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16368" y="19659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17627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6A3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26060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11F3A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2999232"/>
            <a:ext cx="166420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243043"/>
                </a:solidFill>
                <a:latin typeface="Aptos"/>
              </a:defRPr>
            </a:pPr>
            <a:r>
              <a:t>Inspect influential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633472"/>
            <a:ext cx="320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306F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02368" y="19659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9528" y="217627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6A3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26060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11F3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2999232"/>
            <a:ext cx="166420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243043"/>
                </a:solidFill>
                <a:latin typeface="Aptos"/>
              </a:defRPr>
            </a:pPr>
            <a:r>
              <a:t>Prioritize retention offers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7200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Key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56048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1">
                <a:solidFill>
                  <a:srgbClr val="243043"/>
                </a:solidFill>
                <a:latin typeface="Aptos"/>
              </a:defRPr>
            </a:pPr>
            <a:r>
              <a:t>Which customers appear most likely to leave, and what can the business do to retain them?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The bundled dataset contains simulated telecom-style customer records for demonstration.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82296" cy="1188720"/>
          </a:xfrm>
          <a:prstGeom prst="rect">
            <a:avLst/>
          </a:prstGeom>
          <a:solidFill>
            <a:srgbClr val="30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73351"/>
            <a:ext cx="2103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93391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1,200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0876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508760"/>
            <a:ext cx="82296" cy="1188720"/>
          </a:xfrm>
          <a:prstGeom prst="rect">
            <a:avLst/>
          </a:prstGeom>
          <a:solidFill>
            <a:srgbClr val="16A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673351"/>
            <a:ext cx="2103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1993391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350008"/>
            <a:ext cx="2103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5D6C80"/>
                </a:solidFill>
                <a:latin typeface="Aptos"/>
              </a:defRPr>
            </a:pPr>
            <a:r>
              <a:t>Excluding ID and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0876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508760"/>
            <a:ext cx="82296" cy="1188720"/>
          </a:xfrm>
          <a:prstGeom prst="rect">
            <a:avLst/>
          </a:prstGeom>
          <a:solidFill>
            <a:srgbClr val="D2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1673351"/>
            <a:ext cx="2103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CHURNED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1993391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369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508760"/>
            <a:ext cx="2423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508760"/>
            <a:ext cx="82296" cy="1188720"/>
          </a:xfrm>
          <a:prstGeom prst="rect">
            <a:avLst/>
          </a:prstGeom>
          <a:solidFill>
            <a:srgbClr val="329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1673351"/>
            <a:ext cx="2103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STAYED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1993391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831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Example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105156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Customer profile: gender, senior-citizen flag, partner and dependents.</a:t>
            </a:r>
          </a:p>
          <a:p>
            <a:pPr>
              <a:spcAft>
                <a:spcPts val="8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Service and billing: phone/internet service, contract, paperless billing, payment method.</a:t>
            </a:r>
          </a:p>
          <a:p>
            <a:pPr>
              <a:spcAft>
                <a:spcPts val="8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Usage/relationship proxies: tenure, monthly charges and total charges.</a:t>
            </a:r>
          </a:p>
          <a:p>
            <a:pPr>
              <a:spcAft>
                <a:spcPts val="8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Target label: churn = Yes / No.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698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D24B55"/>
                </a:solidFill>
                <a:latin typeface="Aptos"/>
              </a:defRPr>
            </a:pPr>
            <a:r>
              <a:t>Data limitation: call duration, complaint counts and recharge frequency are not present in this sample dataset.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Exploratory analysis: churn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Rates below are computed from the included synthetic dataset; they are illustrative, not industry benchmarks.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11F3A"/>
                </a:solidFill>
                <a:latin typeface="Aptos"/>
              </a:defRPr>
            </a:pPr>
            <a:r>
              <a:t>Churn rate by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696211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243043"/>
                </a:solidFill>
                <a:latin typeface="Aptos"/>
              </a:defRPr>
            </a:pPr>
            <a:r>
              <a:t>Month-to-month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53258" y="1947672"/>
            <a:ext cx="2326233" cy="230428"/>
          </a:xfrm>
          <a:prstGeom prst="roundRect">
            <a:avLst/>
          </a:prstGeom>
          <a:solidFill>
            <a:srgbClr val="D2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06924" y="1920240"/>
            <a:ext cx="67848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5D6C80"/>
                </a:solidFill>
                <a:latin typeface="Aptos"/>
              </a:defRPr>
            </a:pPr>
            <a:r>
              <a:t>45.6%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1696211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243043"/>
                </a:solidFill>
                <a:latin typeface="Aptos"/>
              </a:defRPr>
            </a:pPr>
            <a:r>
              <a:t>One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3258" y="3136392"/>
            <a:ext cx="689419" cy="230428"/>
          </a:xfrm>
          <a:prstGeom prst="roundRect">
            <a:avLst/>
          </a:prstGeom>
          <a:solidFill>
            <a:srgbClr val="D2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0109" y="3108960"/>
            <a:ext cx="67848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5D6C80"/>
                </a:solidFill>
                <a:latin typeface="Aptos"/>
              </a:defRPr>
            </a:pPr>
            <a:r>
              <a:t>13.5%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1696211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243043"/>
                </a:solidFill>
                <a:latin typeface="Aptos"/>
              </a:defRPr>
            </a:pPr>
            <a:r>
              <a:t>Two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3258" y="4325112"/>
            <a:ext cx="567270" cy="230428"/>
          </a:xfrm>
          <a:prstGeom prst="roundRect">
            <a:avLst/>
          </a:prstGeom>
          <a:solidFill>
            <a:srgbClr val="D2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7960" y="4297680"/>
            <a:ext cx="67848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5D6C80"/>
                </a:solidFill>
                <a:latin typeface="Aptos"/>
              </a:defRPr>
            </a:pPr>
            <a:r>
              <a:t>11.1%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11F3A"/>
                </a:solidFill>
                <a:latin typeface="Aptos"/>
              </a:defRPr>
            </a:pPr>
            <a:r>
              <a:t>Churn rate by internet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20240"/>
            <a:ext cx="1632203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243043"/>
                </a:solidFill>
                <a:latin typeface="Aptos"/>
              </a:defRPr>
            </a:pPr>
            <a:r>
              <a:t>Fiber optic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3432" y="1947672"/>
            <a:ext cx="2238451" cy="230428"/>
          </a:xfrm>
          <a:prstGeom prst="roundRect">
            <a:avLst/>
          </a:prstGeom>
          <a:solidFill>
            <a:srgbClr val="30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29316" y="1920240"/>
            <a:ext cx="652881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5D6C80"/>
                </a:solidFill>
                <a:latin typeface="Aptos"/>
              </a:defRPr>
            </a:pPr>
            <a:r>
              <a:t>34.5%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1632203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243043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3432" y="3136392"/>
            <a:ext cx="1777282" cy="230428"/>
          </a:xfrm>
          <a:prstGeom prst="roundRect">
            <a:avLst/>
          </a:prstGeom>
          <a:solidFill>
            <a:srgbClr val="30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68147" y="3108960"/>
            <a:ext cx="652881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5D6C80"/>
                </a:solidFill>
                <a:latin typeface="Aptos"/>
              </a:defRPr>
            </a:pPr>
            <a:r>
              <a:t>27.4%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97680"/>
            <a:ext cx="1632203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243043"/>
                </a:solidFill>
                <a:latin typeface="Aptos"/>
              </a:defRPr>
            </a:pPr>
            <a:r>
              <a:t>DSL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3432" y="4325112"/>
            <a:ext cx="1749842" cy="230428"/>
          </a:xfrm>
          <a:prstGeom prst="roundRect">
            <a:avLst/>
          </a:prstGeom>
          <a:solidFill>
            <a:srgbClr val="30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0706" y="4297680"/>
            <a:ext cx="652881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5D6C80"/>
                </a:solidFill>
                <a:latin typeface="Aptos"/>
              </a:defRPr>
            </a:pPr>
            <a:r>
              <a:t>27.0%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Interpretation: compare segment rates, then validate whether the same patterns hold in real business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Machine-learning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Binary classification using logistic regression in a Scikit-learn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675120" cy="4023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Target: churn (Yes = 1, No = 0).</a:t>
            </a:r>
          </a:p>
          <a:p>
            <a:pPr>
              <a:spcAft>
                <a:spcPts val="9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Split: 75% training and 25% held-out test data, using stratification.</a:t>
            </a:r>
          </a:p>
          <a:p>
            <a:pPr>
              <a:spcAft>
                <a:spcPts val="9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Numeric preprocessing: median imputation and standardization.</a:t>
            </a:r>
          </a:p>
          <a:p>
            <a:pPr>
              <a:spcAft>
                <a:spcPts val="9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Categorical preprocessing: most-frequent imputation and one-hot encoding.</a:t>
            </a:r>
          </a:p>
          <a:p>
            <a:pPr>
              <a:spcAft>
                <a:spcPts val="9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Classifier: logistic regression with class weighting to help address class imbalance.</a:t>
            </a:r>
          </a:p>
          <a:p>
            <a:pPr>
              <a:spcAft>
                <a:spcPts val="9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Evaluation: accuracy, precision, recall, F1-score, ROC-AUC and confusion matrix.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691640"/>
            <a:ext cx="3291840" cy="3474720"/>
          </a:xfrm>
          <a:prstGeom prst="roundRect">
            <a:avLst/>
          </a:prstGeom>
          <a:solidFill>
            <a:srgbClr val="E3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96596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11F3A"/>
                </a:solidFill>
                <a:latin typeface="Aptos"/>
              </a:defRPr>
            </a:pPr>
            <a:r>
              <a:t>Why these metrics?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468880"/>
            <a:ext cx="2697480" cy="2240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43043"/>
                </a:solidFill>
                <a:latin typeface="Aptos"/>
              </a:defRPr>
            </a:pPr>
            <a:r>
              <a:t>•  Recall: how many churners are detected.</a:t>
            </a:r>
          </a:p>
          <a:p>
            <a:pPr>
              <a:spcAft>
                <a:spcPts val="800"/>
              </a:spcAft>
              <a:defRPr sz="1300">
                <a:solidFill>
                  <a:srgbClr val="243043"/>
                </a:solidFill>
                <a:latin typeface="Aptos"/>
              </a:defRPr>
            </a:pPr>
            <a:r>
              <a:t>•  Precision: how many flagged customers actually churn.</a:t>
            </a:r>
          </a:p>
          <a:p>
            <a:pPr>
              <a:spcAft>
                <a:spcPts val="800"/>
              </a:spcAft>
              <a:defRPr sz="1300">
                <a:solidFill>
                  <a:srgbClr val="243043"/>
                </a:solidFill>
                <a:latin typeface="Aptos"/>
              </a:defRPr>
            </a:pPr>
            <a:r>
              <a:t>•  ROC-AUC: ability to rank churn risk across thresholds.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Scores calculated from the same pipeline and split configuration used in the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82296" cy="1234440"/>
          </a:xfrm>
          <a:prstGeom prst="rect">
            <a:avLst/>
          </a:prstGeom>
          <a:solidFill>
            <a:srgbClr val="30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5623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76272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0.687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0088" y="16916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90088" y="1691640"/>
            <a:ext cx="82296" cy="1234440"/>
          </a:xfrm>
          <a:prstGeom prst="rect">
            <a:avLst/>
          </a:prstGeom>
          <a:solidFill>
            <a:srgbClr val="16A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85623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1256" y="2176272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0.493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16916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94376" y="1691640"/>
            <a:ext cx="82296" cy="1234440"/>
          </a:xfrm>
          <a:prstGeom prst="rect">
            <a:avLst/>
          </a:prstGeom>
          <a:solidFill>
            <a:srgbClr val="F0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544" y="185623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5544" y="2176272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0.761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98664" y="16916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98664" y="1691640"/>
            <a:ext cx="82296" cy="1234440"/>
          </a:xfrm>
          <a:prstGeom prst="rect">
            <a:avLst/>
          </a:prstGeom>
          <a:solidFill>
            <a:srgbClr val="D2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2" y="185623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F1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2" y="2176272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0.598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02952" y="16916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02952" y="1691640"/>
            <a:ext cx="82296" cy="1234440"/>
          </a:xfrm>
          <a:prstGeom prst="rect">
            <a:avLst/>
          </a:prstGeom>
          <a:solidFill>
            <a:srgbClr val="329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85623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176272"/>
            <a:ext cx="1737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0.749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42900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11F3A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886200"/>
            <a:ext cx="2148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3886200"/>
            <a:ext cx="82296" cy="685800"/>
          </a:xfrm>
          <a:prstGeom prst="rect">
            <a:avLst/>
          </a:prstGeom>
          <a:solidFill>
            <a:srgbClr val="329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4050791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TRUE NEGATIVES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4370832"/>
            <a:ext cx="1828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886200"/>
            <a:ext cx="2148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3886200"/>
            <a:ext cx="82296" cy="685800"/>
          </a:xfrm>
          <a:prstGeom prst="rect">
            <a:avLst/>
          </a:prstGeom>
          <a:solidFill>
            <a:srgbClr val="F0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8728" y="4050791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FALSE POSITIVES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8728" y="4370832"/>
            <a:ext cx="1828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754880"/>
            <a:ext cx="2148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" y="4754880"/>
            <a:ext cx="82296" cy="685800"/>
          </a:xfrm>
          <a:prstGeom prst="rect">
            <a:avLst/>
          </a:prstGeom>
          <a:solidFill>
            <a:srgbClr val="D2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" y="4919472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FALSE NEGATIVES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" y="5239512"/>
            <a:ext cx="1828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4754880"/>
            <a:ext cx="21488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37560" y="4754880"/>
            <a:ext cx="82296" cy="685800"/>
          </a:xfrm>
          <a:prstGeom prst="rect">
            <a:avLst/>
          </a:prstGeom>
          <a:solidFill>
            <a:srgbClr val="30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38728" y="4919472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5D6C80"/>
                </a:solidFill>
                <a:latin typeface="Aptos"/>
              </a:defRPr>
            </a:pPr>
            <a:r>
              <a:t>TRUE POSITIVES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38728" y="5239512"/>
            <a:ext cx="1828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111F3A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657600"/>
            <a:ext cx="47548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3043"/>
                </a:solidFill>
                <a:latin typeface="Aptos"/>
              </a:defRPr>
            </a:pPr>
            <a:r>
              <a:t>Threshold-dependent results are illustrative. Review recall and false negatives carefully before proposing a retention campaign.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Explainability &amp; model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The project guide recommends ELI5 or SHAP; these are the next explainability extensions.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76656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Use SHAP to estimate how each feature contributes to an individual prediction and overall model behavior.</a:t>
            </a:r>
          </a:p>
          <a:p>
            <a:pPr>
              <a:spcAft>
                <a:spcPts val="10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For a one-hot encoded logistic-regression pipeline, explain transformed features carefully and keep feature names aligned.</a:t>
            </a:r>
          </a:p>
          <a:p>
            <a:pPr>
              <a:spcAft>
                <a:spcPts val="10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ELI5 can show global feature weights for supported estimators; verify compatibility with the preprocessing pipeline.</a:t>
            </a:r>
          </a:p>
          <a:p>
            <a:pPr>
              <a:spcAft>
                <a:spcPts val="1000"/>
              </a:spcAft>
              <a:defRPr sz="1600">
                <a:solidFill>
                  <a:srgbClr val="243043"/>
                </a:solidFill>
                <a:latin typeface="Aptos"/>
              </a:defRPr>
            </a:pPr>
            <a:r>
              <a:t>•  Treat importance as association, not proof of causation.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69164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1965960"/>
            <a:ext cx="2697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Recommended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514600"/>
            <a:ext cx="269748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3043"/>
                </a:solidFill>
                <a:latin typeface="Aptos"/>
              </a:defRPr>
            </a:pPr>
            <a:r>
              <a:t>•  Check explanations against domain knowledge.</a:t>
            </a:r>
          </a:p>
          <a:p>
            <a:pPr>
              <a:spcAft>
                <a:spcPts val="700"/>
              </a:spcAft>
              <a:defRPr sz="1300">
                <a:solidFill>
                  <a:srgbClr val="243043"/>
                </a:solidFill>
                <a:latin typeface="Aptos"/>
              </a:defRPr>
            </a:pPr>
            <a:r>
              <a:t>•  Test stability across samples.</a:t>
            </a:r>
          </a:p>
          <a:p>
            <a:pPr>
              <a:spcAft>
                <a:spcPts val="700"/>
              </a:spcAft>
              <a:defRPr sz="1300">
                <a:solidFill>
                  <a:srgbClr val="243043"/>
                </a:solidFill>
                <a:latin typeface="Aptos"/>
              </a:defRPr>
            </a:pPr>
            <a:r>
              <a:t>•  Confirm no data leakage.</a:t>
            </a:r>
          </a:p>
          <a:p>
            <a:pPr>
              <a:spcAft>
                <a:spcPts val="700"/>
              </a:spcAft>
              <a:defRPr sz="1300">
                <a:solidFill>
                  <a:srgbClr val="243043"/>
                </a:solidFill>
                <a:latin typeface="Aptos"/>
              </a:defRPr>
            </a:pPr>
            <a:r>
              <a:t>•  Review fairness and privacy before operational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D24B55"/>
                </a:solidFill>
                <a:latin typeface="Aptos"/>
              </a:defRPr>
            </a:pPr>
            <a:r>
              <a:t>Status: this report does not claim that SHAP/ELI5 has already been run in the included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Customer segments for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Suggested operating definitions; validate thresholds with real customer lifecycle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429000" cy="109728"/>
          </a:xfrm>
          <a:prstGeom prst="rect">
            <a:avLst/>
          </a:prstGeom>
          <a:solidFill>
            <a:srgbClr val="D2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01952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D24B55"/>
                </a:solidFill>
                <a:latin typeface="Aptos"/>
              </a:defRPr>
            </a:pPr>
            <a:r>
              <a:t>AT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68880"/>
            <a:ext cx="29718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3043"/>
                </a:solidFill>
                <a:latin typeface="Aptos"/>
              </a:defRPr>
            </a:pPr>
            <a:r>
              <a:t>High predicted churn probability, recent complaints or falling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94760"/>
            <a:ext cx="29718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111F3A"/>
                </a:solidFill>
                <a:latin typeface="Aptos"/>
              </a:defRPr>
            </a:pPr>
            <a:r>
              <a:t>Priority: proactive contact, service recovery and a targeted save offer.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00200"/>
            <a:ext cx="3429000" cy="109728"/>
          </a:xfrm>
          <a:prstGeom prst="rect">
            <a:avLst/>
          </a:prstGeom>
          <a:solidFill>
            <a:srgbClr val="329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901952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32996F"/>
                </a:solidFill>
                <a:latin typeface="Aptos"/>
              </a:defRPr>
            </a:pPr>
            <a:r>
              <a:t>LOYAL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468880"/>
            <a:ext cx="29718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3043"/>
                </a:solidFill>
                <a:latin typeface="Aptos"/>
              </a:defRPr>
            </a:pPr>
            <a:r>
              <a:t>Long tenure, stable engagement and low predicted churn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794760"/>
            <a:ext cx="29718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111F3A"/>
                </a:solidFill>
                <a:latin typeface="Aptos"/>
              </a:defRPr>
            </a:pPr>
            <a:r>
              <a:t>Priority: rewards, referral incentives and personalized upgrades.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600200"/>
            <a:ext cx="3429000" cy="109728"/>
          </a:xfrm>
          <a:prstGeom prst="rect">
            <a:avLst/>
          </a:prstGeom>
          <a:solidFill>
            <a:srgbClr val="F0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901952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09D41"/>
                </a:solidFill>
                <a:latin typeface="Aptos"/>
              </a:defRPr>
            </a:pPr>
            <a:r>
              <a:t>DORMANT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468880"/>
            <a:ext cx="29718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3043"/>
                </a:solidFill>
                <a:latin typeface="Aptos"/>
              </a:defRPr>
            </a:pPr>
            <a:r>
              <a:t>Low recent activity or recharge/usage frequency over a defined inactivity window.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3794760"/>
            <a:ext cx="29718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111F3A"/>
                </a:solidFill>
                <a:latin typeface="Aptos"/>
              </a:defRPr>
            </a:pPr>
            <a:r>
              <a:t>Priority: low-cost reactivation messages and simplified recharge bundles.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Note: the sample data lacks call duration, complaint count and recharge frequency; use these fields when available to improve segmentation.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Final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Use the model as a decision-support tool, not as an automatic decision-maker.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306FD6"/>
                </a:solidFill>
                <a:latin typeface="Aptos"/>
              </a:defRPr>
            </a:pPr>
            <a:r>
              <a:t>1. Prioritize outreach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417320"/>
            <a:ext cx="8229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3043"/>
                </a:solidFill>
                <a:latin typeface="Aptos"/>
              </a:defRPr>
            </a:pPr>
            <a:r>
              <a:t>Create a weekly at-risk list using calibrated risk thresholds; start with high-risk, high-value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306FD6"/>
                </a:solidFill>
                <a:latin typeface="Aptos"/>
              </a:defRPr>
            </a:pPr>
            <a:r>
              <a:t>2. Fix service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286000"/>
            <a:ext cx="8229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3043"/>
                </a:solidFill>
                <a:latin typeface="Aptos"/>
              </a:defRPr>
            </a:pPr>
            <a:r>
              <a:t>Review complaint history, repeated faults and support contacts before offering discounts.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306FD6"/>
                </a:solidFill>
                <a:latin typeface="Aptos"/>
              </a:defRPr>
            </a:pPr>
            <a:r>
              <a:t>3. Match the offer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154680"/>
            <a:ext cx="8229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3043"/>
                </a:solidFill>
                <a:latin typeface="Aptos"/>
              </a:defRPr>
            </a:pPr>
            <a:r>
              <a:t>Test plan changes, loyalty rewards or recharge bundles by segment rather than giving every customer the same offer.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59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306FD6"/>
                </a:solidFill>
                <a:latin typeface="Aptos"/>
              </a:defRPr>
            </a:pPr>
            <a:r>
              <a:t>4. Measure incrementality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023359"/>
            <a:ext cx="8229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3043"/>
                </a:solidFill>
                <a:latin typeface="Aptos"/>
              </a:defRPr>
            </a:pPr>
            <a:r>
              <a:t>Run controlled holdout tests and track churn reduction, offer cost, retained revenue and complaint recurrence.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306FD6"/>
                </a:solidFill>
                <a:latin typeface="Aptos"/>
              </a:defRPr>
            </a:pPr>
            <a:r>
              <a:t>5. Monitor the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892040"/>
            <a:ext cx="8229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3043"/>
                </a:solidFill>
                <a:latin typeface="Aptos"/>
              </a:defRPr>
            </a:pPr>
            <a:r>
              <a:t>Track precision/recall, data drift, calibration and segment outcomes; retrain only after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A practical sequence from classroom prototype to validated retention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84831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16A3A0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Data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103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3043"/>
                </a:solidFill>
                <a:latin typeface="Aptos"/>
              </a:defRPr>
            </a:pPr>
            <a:r>
              <a:t>Validate definitions, missingness, permissions and label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514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2084831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16A3A0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54203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Model &amp; 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063240"/>
            <a:ext cx="2103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3043"/>
                </a:solidFill>
                <a:latin typeface="Aptos"/>
              </a:defRPr>
            </a:pPr>
            <a:r>
              <a:t>Benchmark baseline, tune threshold, add SHAP/ELI5 and check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28800"/>
            <a:ext cx="2514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84831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16A3A0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4203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2103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3043"/>
                </a:solidFill>
                <a:latin typeface="Aptos"/>
              </a:defRPr>
            </a:pPr>
            <a:r>
              <a:t>Select a small segment, randomize eligible customers and measure outcomes.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828800"/>
            <a:ext cx="2514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2084831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16A3A0"/>
                </a:solidFill>
                <a:latin typeface="Aptos"/>
              </a:defRPr>
            </a:pPr>
            <a:r>
              <a:t>WEEK 4+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54203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063240"/>
            <a:ext cx="2103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3043"/>
                </a:solidFill>
                <a:latin typeface="Aptos"/>
              </a:defRPr>
            </a:pPr>
            <a:r>
              <a:t>Review results, update playbooks and document model limitations.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6070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Success measures: churn rate versus control, retained revenue, offer redemption, cost per retained customer, customer complaints.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Limitations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5D6C80"/>
                </a:solidFill>
                <a:latin typeface="Aptos"/>
              </a:defRPr>
            </a:pPr>
            <a:r>
              <a:t>The prototype demonstrates the workflow; production use requires real, governed telecom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Synthetic data cannot establish real-world churn drivers or expected model performance.</a:t>
            </a:r>
          </a:p>
          <a:p>
            <a:pPr>
              <a:spcAft>
                <a:spcPts val="10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The current dataset does not include call duration, complaints, recharge frequency or detailed usage events.</a:t>
            </a:r>
          </a:p>
          <a:p>
            <a:pPr>
              <a:spcAft>
                <a:spcPts val="10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Customer segments shown here are proposed definitions; operational thresholds must be validated.</a:t>
            </a:r>
          </a:p>
          <a:p>
            <a:pPr>
              <a:spcAft>
                <a:spcPts val="10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Before deployment, assess privacy, fairness, drift, model calibration and business impact.</a:t>
            </a:r>
          </a:p>
          <a:p>
            <a:pPr>
              <a:spcAft>
                <a:spcPts val="1000"/>
              </a:spcAft>
              <a:defRPr sz="1700">
                <a:solidFill>
                  <a:srgbClr val="243043"/>
                </a:solidFill>
                <a:latin typeface="Aptos"/>
              </a:defRPr>
            </a:pPr>
            <a:r>
              <a:t>•  Conclusion: combine risk prediction with explainability and controlled retention experiments to learn which actions actually reduce churn.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306FD6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1">
                <a:solidFill>
                  <a:srgbClr val="5D6C80"/>
                </a:solidFill>
                <a:latin typeface="Aptos"/>
              </a:defRPr>
            </a:pPr>
            <a:r>
              <a:t>TELECOM CUSTOMER CHURN ANALYSIS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